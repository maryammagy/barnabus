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Clinical Assessment System Evaluation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Evaluation of synthetic data package for clinical decision support system</a:t>
            </a:r>
          </a:p>
          <a:p>
            <a:pPr>
              <a:defRPr sz="1800"/>
            </a:pPr>
            <a:r>
              <a:t>Three claims evaluated against rigorous causal inference standards</a:t>
            </a:r>
          </a:p>
          <a:p>
            <a:pPr>
              <a:defRPr sz="1800"/>
            </a:pPr>
            <a:r>
              <a:t>All three claims currently unsupported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Claim 1: "23% reduction in day-of-surgery cancellations" - Unsupported</a:t>
            </a:r>
          </a:p>
          <a:p>
            <a:pPr>
              <a:defRPr sz="1800"/>
            </a:pPr>
            <a:r>
              <a:t>Claim 2: "4.5 days faster referral-to-readiness" - Unsupported</a:t>
            </a:r>
          </a:p>
          <a:p>
            <a:pPr>
              <a:defRPr sz="1800"/>
            </a:pPr>
            <a:r>
              <a:t>Claim 3: "89% clinician agreement" - Unsupported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Data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Cannot identify:</a:t>
            </a:r>
          </a:p>
          <a:p>
            <a:pPr>
              <a:defRPr sz="1800"/>
            </a:pPr>
            <a:r>
              <a:t>1. Which services actually switched on</a:t>
            </a:r>
          </a:p>
          <a:p>
            <a:pPr>
              <a:defRPr sz="1800"/>
            </a:pPr>
            <a:r>
              <a:t>2. Day-of-surgery vs. general cancellations</a:t>
            </a:r>
          </a:p>
          <a:p>
            <a:pPr>
              <a:defRPr sz="1800"/>
            </a:pPr>
            <a:r>
              <a:t>3. Full recommendation population from labeled sample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Concurrent co-intervention:</a:t>
            </a:r>
          </a:p>
          <a:p>
            <a:pPr>
              <a:defRPr sz="1800"/>
            </a:pPr>
            <a:r>
              <a:t>Scheduling policy changed at same time as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1 - Cancellations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Unsupported by Observational Design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Missing: Independent service activation record</a:t>
            </a:r>
          </a:p>
          <a:p>
            <a:pPr>
              <a:defRPr sz="1800"/>
            </a:pPr>
            <a:r>
              <a:t>Endpoint: Cannot map cancel_rate to day-of-surgery</a:t>
            </a:r>
          </a:p>
          <a:p>
            <a:pPr>
              <a:defRPr sz="1800"/>
            </a:pPr>
            <a:r>
              <a:t>Co-intervention: Scheduling policy change</a:t>
            </a:r>
          </a:p>
          <a:p>
            <a:pPr>
              <a:defRPr sz="1800"/>
            </a:pPr>
            <a:r>
              <a:t>Sensitivity: +0.004 to -0.005 (inconsistent)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2 -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Unsupported by Observational Design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Same treatment identification problem</a:t>
            </a:r>
          </a:p>
          <a:p>
            <a:pPr>
              <a:defRPr sz="1800"/>
            </a:pPr>
            <a:r>
              <a:t>Competing risk from cancellations</a:t>
            </a:r>
          </a:p>
          <a:p>
            <a:pPr>
              <a:defRPr sz="1800"/>
            </a:pPr>
            <a:r>
              <a:t>Administrative censoring at study end</a:t>
            </a:r>
          </a:p>
          <a:p>
            <a:pPr>
              <a:defRPr sz="1800"/>
            </a:pPr>
            <a:r>
              <a:t>Sensitivity: +4.6 to +3.0 days (worse, not better)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3 -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Unsupported With These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Labeled sample not random (500 of unknown total)</a:t>
            </a:r>
          </a:p>
          <a:p>
            <a:pPr>
              <a:defRPr sz="1800"/>
            </a:pPr>
            <a:r>
              <a:t>No adjudicated ground truth</a:t>
            </a:r>
          </a:p>
          <a:p>
            <a:pPr>
              <a:defRPr sz="1800"/>
            </a:pPr>
            <a:r>
              <a:t>LLM judge shares model family (conflict of interest)</a:t>
            </a:r>
          </a:p>
          <a:p>
            <a:pPr>
              <a:defRPr sz="1800"/>
            </a:pPr>
            <a:r>
              <a:t>Observed: 77.1% agreement (not 89%)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Analyst Reproduction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 Defects Found:</a:t>
            </a:r>
          </a:p>
          <a:p>
            <a:pPr>
              <a:defRPr sz="1800"/>
            </a:pPr>
            <a:r>
              <a:t>Raw-key join loss</a:t>
            </a:r>
          </a:p>
          <a:p>
            <a:pPr>
              <a:defRPr sz="1800"/>
            </a:pPr>
            <a:r>
              <a:t>Duplicate snapshot multiplication</a:t>
            </a:r>
          </a:p>
          <a:p>
            <a:pPr>
              <a:defRPr sz="1800"/>
            </a:pPr>
            <a:r>
              <a:t>Selection on assessment generated</a:t>
            </a:r>
          </a:p>
          <a:p>
            <a:pPr>
              <a:defRPr sz="1800"/>
            </a:pPr>
            <a:r>
              <a:t>Site B mixing</a:t>
            </a:r>
          </a:p>
          <a:p>
            <a:pPr>
              <a:defRPr sz="1800"/>
            </a:pPr>
            <a:r>
              <a:t>No service-level inference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Result: None of the four deck numbers reproducible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Data Cannot 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Selected treated services</a:t>
            </a:r>
          </a:p>
          <a:p>
            <a:pPr>
              <a:defRPr sz="1800"/>
            </a:pPr>
            <a:r>
              <a:t>2. System vs. policy change effect</a:t>
            </a:r>
          </a:p>
          <a:p>
            <a:pPr>
              <a:defRPr sz="1800"/>
            </a:pPr>
            <a:r>
              <a:t>3. Day-of-surgery endpoint</a:t>
            </a:r>
          </a:p>
          <a:p>
            <a:pPr>
              <a:defRPr sz="1800"/>
            </a:pPr>
            <a:r>
              <a:t>4. Full population from labels</a:t>
            </a:r>
          </a:p>
          <a:p>
            <a:pPr>
              <a:defRPr sz="1800"/>
            </a:pPr>
            <a:r>
              <a:t>5. Clinician correctness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Do NOT present the analyst deck to customers.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Establish governance before any external communication:</a:t>
            </a:r>
          </a:p>
          <a:p>
            <a:pPr>
              <a:defRPr sz="1800"/>
            </a:pPr>
            <a:r>
              <a:t>Evidence-based claims only</a:t>
            </a:r>
          </a:p>
          <a:p>
            <a:pPr>
              <a:defRPr sz="1800"/>
            </a:pPr>
            <a:r>
              <a:t>Independent review required</a:t>
            </a:r>
          </a:p>
          <a:p>
            <a:pPr>
              <a:defRPr sz="1800"/>
            </a:pPr>
            <a:r>
              <a:t>Document all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Two containerized services: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Evaluation &amp; Monitoring API</a:t>
            </a:r>
          </a:p>
          <a:p>
            <a:pPr>
              <a:defRPr sz="1800"/>
            </a:pPr>
            <a:r>
              <a:t>- Score ingestion with provenance</a:t>
            </a:r>
          </a:p>
          <a:p>
            <a:pPr>
              <a:defRPr sz="1800"/>
            </a:pPr>
            <a:r>
              <a:t>- Drift/calibration/outcome monitoring</a:t>
            </a:r>
          </a:p>
          <a:p>
            <a:pPr>
              <a:defRPr sz="1800"/>
            </a:pPr>
            <a:r>
              <a:t>- Alert budget enforcement</a:t>
            </a:r>
          </a:p>
          <a:p>
            <a:pPr>
              <a:defRPr sz="1800"/>
            </a:pPr>
            <a:r>
              <a:t>- Health endpoint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Analytics Assistant</a:t>
            </a:r>
          </a:p>
          <a:p>
            <a:pPr>
              <a:defRPr sz="1800"/>
            </a:pPr>
            <a:r>
              <a:t>- Natural language to SQL</a:t>
            </a:r>
          </a:p>
          <a:p>
            <a:pPr>
              <a:defRPr sz="1800"/>
            </a:pPr>
            <a:r>
              <a:t>- Below-model authorization</a:t>
            </a:r>
          </a:p>
          <a:p>
            <a:pPr>
              <a:defRPr sz="1800"/>
            </a:pPr>
            <a:r>
              <a:t>- Zero authorization violations (tested)</a:t>
            </a:r>
          </a:p>
          <a:p>
            <a:pPr>
              <a:defRPr sz="1800"/>
            </a:pPr>
            <a:r>
              <a:t>- Test provider active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Immediate:</a:t>
            </a:r>
          </a:p>
          <a:p>
            <a:pPr>
              <a:defRPr sz="1800"/>
            </a:pPr>
            <a:r>
              <a:t>- Do not publish analyst deck</a:t>
            </a:r>
          </a:p>
          <a:p>
            <a:pPr>
              <a:defRPr sz="1800"/>
            </a:pPr>
            <a:r>
              <a:t>- Commission proper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Medium-term:</a:t>
            </a:r>
          </a:p>
          <a:p>
            <a:pPr>
              <a:defRPr sz="1800"/>
            </a:pPr>
            <a:r>
              <a:t>- Obtain independent service records</a:t>
            </a:r>
          </a:p>
          <a:p>
            <a:pPr>
              <a:defRPr sz="1800"/>
            </a:pPr>
            <a:r>
              <a:t>- Implement proper study design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Long-term:</a:t>
            </a:r>
          </a:p>
          <a:p>
            <a:pPr>
              <a:defRPr sz="1800"/>
            </a:pPr>
            <a:r>
              <a:t>- Consider randomized implementation</a:t>
            </a:r>
          </a:p>
          <a:p>
            <a:pPr>
              <a:defRPr sz="1800"/>
            </a:pPr>
            <a:r>
              <a:t>- Build adjudicated ground truth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Claims unsupported: 3</a:t>
            </a:r>
          </a:p>
          <a:p>
            <a:pPr>
              <a:defRPr sz="1800"/>
            </a:pPr>
            <a:r>
              <a:t>Reasons: Unknown treatment, co-intervention, no ground truth</a:t>
            </a:r>
          </a:p>
          <a:p>
            <a:pPr>
              <a:defRPr sz="1800"/>
            </a:pPr>
            <a:r>
              <a:t>Reproducible deck numbers: 0</a:t>
            </a:r>
          </a:p>
          <a:p>
            <a:pPr>
              <a:defRPr sz="1800"/>
            </a:pPr>
            <a:r>
              <a:t>Services operational: 2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Recommendation: Transparent communication of limitations before any customer-facing materials.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